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9"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3333" autoAdjust="0"/>
  </p:normalViewPr>
  <p:slideViewPr>
    <p:cSldViewPr snapToGrid="0">
      <p:cViewPr varScale="1">
        <p:scale>
          <a:sx n="77" d="100"/>
          <a:sy n="77" d="100"/>
        </p:scale>
        <p:origin x="816"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hoaib05504/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https://github.com/Shoaib05504/Seasonal-Agriculture-Performance-Analysis" TargetMode="Externa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33095" y="3660982"/>
            <a:ext cx="3612400" cy="861497"/>
          </a:xfrm>
        </p:spPr>
        <p:txBody>
          <a:bodyPr vert="horz" lIns="91440" tIns="45720" rIns="91440" bIns="45720" rtlCol="0" anchor="t">
            <a:normAutofit/>
          </a:bodyPr>
          <a:lstStyle/>
          <a:p>
            <a:pPr algn="r"/>
            <a:r>
              <a:rPr lang="en-US" sz="2800" dirty="0">
                <a:solidFill>
                  <a:schemeClr val="tx1"/>
                </a:solidFill>
                <a:latin typeface="Times New Roman" panose="02020603050405020304" pitchFamily="18" charset="0"/>
                <a:cs typeface="Times New Roman" panose="02020603050405020304" pitchFamily="18" charset="0"/>
              </a:rPr>
              <a:t>Student Name -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19722" y="2794001"/>
            <a:ext cx="4998720" cy="743448"/>
          </a:xfrm>
        </p:spPr>
        <p:txBody>
          <a:bodyPr>
            <a:normAutofit/>
          </a:bodyPr>
          <a:lstStyle/>
          <a:p>
            <a:r>
              <a:rPr lang="en-GB" sz="3200" b="1" dirty="0"/>
              <a:t>Project Title </a:t>
            </a:r>
            <a:r>
              <a:rPr lang="en-GB" sz="3200" dirty="0"/>
              <a: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5948700"/>
            <a:ext cx="3176362" cy="52322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AICTE Student ID </a:t>
            </a:r>
            <a:r>
              <a:rPr lang="en-US" sz="2800" b="1"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E1A0051-A4CF-25B4-E864-1768249FD064}"/>
              </a:ext>
            </a:extLst>
          </p:cNvPr>
          <p:cNvSpPr txBox="1"/>
          <p:nvPr/>
        </p:nvSpPr>
        <p:spPr>
          <a:xfrm>
            <a:off x="3170583" y="2824299"/>
            <a:ext cx="6827895" cy="800219"/>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Seasonal Agriculture Performance Analysis</a:t>
            </a:r>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57F611D3-8709-E132-9A93-DC06F26A735F}"/>
              </a:ext>
            </a:extLst>
          </p:cNvPr>
          <p:cNvSpPr txBox="1"/>
          <p:nvPr/>
        </p:nvSpPr>
        <p:spPr>
          <a:xfrm>
            <a:off x="3312134" y="3694238"/>
            <a:ext cx="282271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SHOAIB S W</a:t>
            </a:r>
            <a:endParaRPr lang="en-IN"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E120555-5965-AC7C-C62A-D1750162AE9A}"/>
              </a:ext>
            </a:extLst>
          </p:cNvPr>
          <p:cNvSpPr txBox="1"/>
          <p:nvPr/>
        </p:nvSpPr>
        <p:spPr>
          <a:xfrm>
            <a:off x="846870" y="4363056"/>
            <a:ext cx="2606804" cy="800219"/>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College Name - </a:t>
            </a:r>
            <a:endParaRPr lang="en-IN" sz="2800" b="1"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01E06678-7539-F9E0-2E3B-87951A9CF275}"/>
              </a:ext>
            </a:extLst>
          </p:cNvPr>
          <p:cNvSpPr txBox="1"/>
          <p:nvPr/>
        </p:nvSpPr>
        <p:spPr>
          <a:xfrm>
            <a:off x="3312134" y="4391971"/>
            <a:ext cx="7466018" cy="954107"/>
          </a:xfrm>
          <a:prstGeom prst="rect">
            <a:avLst/>
          </a:prstGeom>
          <a:noFill/>
        </p:spPr>
        <p:txBody>
          <a:bodyPr wrap="none" rtlCol="0">
            <a:spAutoFit/>
          </a:bodyPr>
          <a:lstStyle/>
          <a:p>
            <a:pPr algn="ctr"/>
            <a:r>
              <a:rPr lang="en-US" sz="2800" dirty="0">
                <a:latin typeface="Times New Roman" panose="02020603050405020304" pitchFamily="18" charset="0"/>
                <a:cs typeface="Times New Roman" panose="02020603050405020304" pitchFamily="18" charset="0"/>
              </a:rPr>
              <a:t>East Point College of Engineering and Technology</a:t>
            </a:r>
          </a:p>
          <a:p>
            <a:pPr algn="ctr"/>
            <a:r>
              <a:rPr lang="en-US" sz="2800" dirty="0">
                <a:latin typeface="Times New Roman" panose="02020603050405020304" pitchFamily="18" charset="0"/>
                <a:cs typeface="Times New Roman" panose="02020603050405020304" pitchFamily="18" charset="0"/>
              </a:rPr>
              <a:t>Bengaluru , Karnataka</a:t>
            </a:r>
            <a:endParaRPr lang="en-IN"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0663C04-83C3-1CDE-0667-2F6C6F279C36}"/>
              </a:ext>
            </a:extLst>
          </p:cNvPr>
          <p:cNvSpPr txBox="1"/>
          <p:nvPr/>
        </p:nvSpPr>
        <p:spPr>
          <a:xfrm>
            <a:off x="3453674" y="6010255"/>
            <a:ext cx="4289957"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STU68fa545b391751761236059</a:t>
            </a:r>
            <a:endParaRPr lang="en-IN" sz="2400"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75479" y="2024743"/>
            <a:ext cx="7622842" cy="4739951"/>
          </a:xfrm>
        </p:spPr>
        <p:txBody>
          <a:bodyPr vert="horz" lIns="91440" tIns="45720" rIns="91440" bIns="45720" rtlCol="0" anchor="t">
            <a:normAutofit/>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resulting in differences in agricultural performance across seasons. However, raw agricultural data does not clearly explain these seasonal variations or the patterns observed under different conditions. Therefore, this project analyses the given agricultural dataset to identify meaningful patterns, trends, relationships, and variations in agricultural performance across different seasons.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098321"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581279"/>
            <a:ext cx="6276109" cy="830997"/>
          </a:xfrm>
        </p:spPr>
        <p:txBody>
          <a:bodyPr>
            <a:normAutofit fontScale="90000"/>
          </a:bodyPr>
          <a:lstStyle/>
          <a:p>
            <a:pPr lvl="0"/>
            <a:r>
              <a:rPr lang="en-GB" dirty="0"/>
              <a:t>Project Description</a:t>
            </a:r>
            <a:br>
              <a:rPr lang="en-GB" dirty="0"/>
            </a:br>
            <a:r>
              <a:rPr lang="en-GB" dirty="0"/>
              <a:t> </a:t>
            </a:r>
            <a:br>
              <a:rPr lang="en-GB" dirty="0"/>
            </a:br>
            <a:endParaRPr lang="en-IN"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7638CF2D-CD88-F868-8850-F4F874366FF0}"/>
              </a:ext>
            </a:extLst>
          </p:cNvPr>
          <p:cNvSpPr txBox="1"/>
          <p:nvPr/>
        </p:nvSpPr>
        <p:spPr>
          <a:xfrm>
            <a:off x="467359" y="1703733"/>
            <a:ext cx="9397764" cy="7520457"/>
          </a:xfrm>
          <a:prstGeom prst="rect">
            <a:avLst/>
          </a:prstGeom>
          <a:noFill/>
        </p:spPr>
        <p:txBody>
          <a:bodyPr wrap="square" rtlCol="0">
            <a:spAutoFit/>
          </a:bodyPr>
          <a:lstStyle/>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Analyzed a 4,000-record agricultural dataset with 28 attributes.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Performed data cleaning and data preparation.</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Conducted Exploratory Data Analysis (EDA) to understand the dataset.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Analyzed agricultural performance across seasons and crops.</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Studied environmental factors such as rainfall, temperature, humidity, soil pH, and soil moisture.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Analyzed production, revenue, and profit to understand economic performance.</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Studied water, fertilizer, and pesticide usage.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Performed state and district-wise geographical analysis.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Used NumPy for statistical analysis and correlation analysis.</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Performed relationship and comparative analysis using visualizations. </a:t>
            </a:r>
          </a:p>
          <a:p>
            <a:pPr marL="342900" indent="-342900">
              <a:lnSpc>
                <a:spcPct val="150000"/>
              </a:lnSpc>
              <a:buClr>
                <a:schemeClr val="accent4"/>
              </a:buClr>
              <a:buFont typeface="+mj-lt"/>
              <a:buAutoNum type="arabicPeriod"/>
            </a:pPr>
            <a:r>
              <a:rPr lang="en-IN" dirty="0">
                <a:latin typeface="Times New Roman" panose="02020603050405020304" pitchFamily="18" charset="0"/>
                <a:cs typeface="Times New Roman" panose="02020603050405020304" pitchFamily="18" charset="0"/>
              </a:rPr>
              <a:t>Identified key findings and provided data-driven recommendations for agricultural planning.</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92016" y="1893862"/>
            <a:ext cx="9141098" cy="5234726"/>
          </a:xfrm>
        </p:spPr>
        <p:txBody>
          <a:bodyPr>
            <a:normAutofit fontScale="77500" lnSpcReduction="20000"/>
          </a:bodyPr>
          <a:lstStyle/>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Farmers</a:t>
            </a:r>
            <a:r>
              <a:rPr lang="en-IN" sz="2300" dirty="0">
                <a:latin typeface="Times New Roman" panose="02020603050405020304" pitchFamily="18" charset="0"/>
                <a:cs typeface="Times New Roman" panose="02020603050405020304" pitchFamily="18" charset="0"/>
              </a:rPr>
              <a:t> – To support crop selection, seasonal planning, and resource management. </a:t>
            </a:r>
          </a:p>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Agricultural Planners</a:t>
            </a:r>
            <a:r>
              <a:rPr lang="en-IN" sz="2300" dirty="0">
                <a:solidFill>
                  <a:schemeClr val="tx1"/>
                </a:solidFill>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To compare seasonal and regional agricultural performance. </a:t>
            </a:r>
          </a:p>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Government &amp; Agricultural Departments</a:t>
            </a:r>
            <a:r>
              <a:rPr lang="en-IN" sz="2300" dirty="0">
                <a:solidFill>
                  <a:schemeClr val="tx1"/>
                </a:solidFill>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To support data-driven agricultural planning and decision-making. </a:t>
            </a:r>
          </a:p>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Agricultural Researchers</a:t>
            </a:r>
            <a:r>
              <a:rPr lang="en-IN" sz="2300" dirty="0">
                <a:solidFill>
                  <a:schemeClr val="tx1"/>
                </a:solidFill>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To study relationships between environmental conditions, resources, and crop performance. </a:t>
            </a:r>
          </a:p>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Agribusiness &amp; Farming Organizations</a:t>
            </a:r>
            <a:r>
              <a:rPr lang="en-IN" sz="2300" dirty="0">
                <a:solidFill>
                  <a:schemeClr val="tx1"/>
                </a:solidFill>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To understand production, revenue, profit, and resource usage patterns. </a:t>
            </a:r>
          </a:p>
          <a:p>
            <a:pPr lvl="0">
              <a:lnSpc>
                <a:spcPct val="170000"/>
              </a:lnSpc>
            </a:pPr>
            <a:r>
              <a:rPr lang="en-IN" sz="2300" b="1" dirty="0">
                <a:solidFill>
                  <a:schemeClr val="tx1"/>
                </a:solidFill>
                <a:latin typeface="Times New Roman" panose="02020603050405020304" pitchFamily="18" charset="0"/>
                <a:cs typeface="Times New Roman" panose="02020603050405020304" pitchFamily="18" charset="0"/>
              </a:rPr>
              <a:t>Data Analysts &amp; Students</a:t>
            </a:r>
            <a:r>
              <a:rPr lang="en-IN" sz="2300" dirty="0">
                <a:solidFill>
                  <a:schemeClr val="tx1"/>
                </a:solidFill>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 To analyze agricultural data and derive meaningful insights.</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480049" y="79264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60" y="6503437"/>
            <a:ext cx="1918300" cy="139959"/>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96499" y="3847976"/>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9533" y="1614552"/>
            <a:ext cx="9027702" cy="5243448"/>
          </a:xfrm>
        </p:spPr>
        <p:txBody>
          <a:bodyPr/>
          <a:lstStyle/>
          <a:p>
            <a:pPr lvl="0"/>
            <a:r>
              <a:rPr lang="en-IN" sz="1800" b="1" dirty="0">
                <a:solidFill>
                  <a:schemeClr val="tx1"/>
                </a:solidFill>
                <a:latin typeface="Times New Roman" panose="02020603050405020304" pitchFamily="18" charset="0"/>
                <a:cs typeface="Times New Roman" panose="02020603050405020304" pitchFamily="18" charset="0"/>
              </a:rPr>
              <a:t>Python</a:t>
            </a:r>
            <a:r>
              <a:rPr lang="en-IN" sz="1800" dirty="0">
                <a:solidFill>
                  <a:schemeClr val="tx1"/>
                </a:solidFill>
                <a:latin typeface="Times New Roman" panose="02020603050405020304" pitchFamily="18" charset="0"/>
                <a:cs typeface="Times New Roman" panose="02020603050405020304" pitchFamily="18" charset="0"/>
              </a:rPr>
              <a:t> – Main programming language for data analysis. </a:t>
            </a:r>
          </a:p>
          <a:p>
            <a:pPr lvl="0"/>
            <a:r>
              <a:rPr lang="en-IN" sz="1800" b="1" dirty="0">
                <a:solidFill>
                  <a:schemeClr val="tx1"/>
                </a:solidFill>
                <a:latin typeface="Times New Roman" panose="02020603050405020304" pitchFamily="18" charset="0"/>
                <a:cs typeface="Times New Roman" panose="02020603050405020304" pitchFamily="18" charset="0"/>
              </a:rPr>
              <a:t>Pandas</a:t>
            </a:r>
            <a:r>
              <a:rPr lang="en-IN" sz="1800" dirty="0">
                <a:solidFill>
                  <a:schemeClr val="tx1"/>
                </a:solidFill>
                <a:latin typeface="Times New Roman" panose="02020603050405020304" pitchFamily="18" charset="0"/>
                <a:cs typeface="Times New Roman" panose="02020603050405020304" pitchFamily="18" charset="0"/>
              </a:rPr>
              <a:t> – Data loading, cleaning, preparation, and analysis. </a:t>
            </a:r>
          </a:p>
          <a:p>
            <a:pPr lvl="0"/>
            <a:r>
              <a:rPr lang="en-IN" sz="1800" b="1" dirty="0">
                <a:solidFill>
                  <a:schemeClr val="tx1"/>
                </a:solidFill>
                <a:latin typeface="Times New Roman" panose="02020603050405020304" pitchFamily="18" charset="0"/>
                <a:cs typeface="Times New Roman" panose="02020603050405020304" pitchFamily="18" charset="0"/>
              </a:rPr>
              <a:t>NumPy</a:t>
            </a:r>
            <a:r>
              <a:rPr lang="en-IN" sz="1800" dirty="0">
                <a:solidFill>
                  <a:schemeClr val="tx1"/>
                </a:solidFill>
                <a:latin typeface="Times New Roman" panose="02020603050405020304" pitchFamily="18" charset="0"/>
                <a:cs typeface="Times New Roman" panose="02020603050405020304" pitchFamily="18" charset="0"/>
              </a:rPr>
              <a:t> – Statistical calculations and numerical analysis. </a:t>
            </a:r>
          </a:p>
          <a:p>
            <a:pPr lvl="0"/>
            <a:r>
              <a:rPr lang="en-IN" sz="1800" b="1" dirty="0">
                <a:solidFill>
                  <a:schemeClr val="tx1"/>
                </a:solidFill>
                <a:latin typeface="Times New Roman" panose="02020603050405020304" pitchFamily="18" charset="0"/>
                <a:cs typeface="Times New Roman" panose="02020603050405020304" pitchFamily="18" charset="0"/>
              </a:rPr>
              <a:t>Matplotlib</a:t>
            </a:r>
            <a:r>
              <a:rPr lang="en-IN" sz="1800" dirty="0">
                <a:solidFill>
                  <a:schemeClr val="tx1"/>
                </a:solidFill>
                <a:latin typeface="Times New Roman" panose="02020603050405020304" pitchFamily="18" charset="0"/>
                <a:cs typeface="Times New Roman" panose="02020603050405020304" pitchFamily="18" charset="0"/>
              </a:rPr>
              <a:t> – Data visualization and charts. </a:t>
            </a:r>
          </a:p>
          <a:p>
            <a:pPr lvl="0"/>
            <a:r>
              <a:rPr lang="en-IN" sz="1800" b="1" dirty="0">
                <a:solidFill>
                  <a:schemeClr val="tx1"/>
                </a:solidFill>
                <a:latin typeface="Times New Roman" panose="02020603050405020304" pitchFamily="18" charset="0"/>
                <a:cs typeface="Times New Roman" panose="02020603050405020304" pitchFamily="18" charset="0"/>
              </a:rPr>
              <a:t>Google Colab</a:t>
            </a:r>
            <a:r>
              <a:rPr lang="en-IN" sz="1800" dirty="0">
                <a:solidFill>
                  <a:schemeClr val="tx1"/>
                </a:solidFill>
                <a:latin typeface="Times New Roman" panose="02020603050405020304" pitchFamily="18" charset="0"/>
                <a:cs typeface="Times New Roman" panose="02020603050405020304" pitchFamily="18" charset="0"/>
              </a:rPr>
              <a:t> – Development and execution environment. </a:t>
            </a:r>
          </a:p>
          <a:p>
            <a:pPr lvl="0"/>
            <a:r>
              <a:rPr lang="en-IN" sz="1800" b="1" dirty="0">
                <a:solidFill>
                  <a:schemeClr val="tx1"/>
                </a:solidFill>
                <a:latin typeface="Times New Roman" panose="02020603050405020304" pitchFamily="18" charset="0"/>
                <a:cs typeface="Times New Roman" panose="02020603050405020304" pitchFamily="18" charset="0"/>
              </a:rPr>
              <a:t>CSV Dataset</a:t>
            </a:r>
            <a:r>
              <a:rPr lang="en-IN" sz="1800" dirty="0">
                <a:solidFill>
                  <a:schemeClr val="tx1"/>
                </a:solidFill>
                <a:latin typeface="Times New Roman" panose="02020603050405020304" pitchFamily="18" charset="0"/>
                <a:cs typeface="Times New Roman" panose="02020603050405020304" pitchFamily="18" charset="0"/>
              </a:rPr>
              <a:t> – Source format of the agricultural dataset. </a:t>
            </a:r>
          </a:p>
          <a:p>
            <a:pPr lvl="0"/>
            <a:r>
              <a:rPr lang="en-IN" sz="1800" b="1" dirty="0">
                <a:solidFill>
                  <a:schemeClr val="tx1"/>
                </a:solidFill>
                <a:latin typeface="Times New Roman" panose="02020603050405020304" pitchFamily="18" charset="0"/>
                <a:cs typeface="Times New Roman" panose="02020603050405020304" pitchFamily="18" charset="0"/>
              </a:rPr>
              <a:t>Data Analysis Techniques</a:t>
            </a:r>
            <a:r>
              <a:rPr lang="en-IN" sz="1800" dirty="0">
                <a:solidFill>
                  <a:schemeClr val="tx1"/>
                </a:solidFill>
                <a:latin typeface="Times New Roman" panose="02020603050405020304" pitchFamily="18" charset="0"/>
                <a:cs typeface="Times New Roman" panose="02020603050405020304" pitchFamily="18" charset="0"/>
              </a:rPr>
              <a:t> – EDA, correlation analysis, relationship analysis, and comparative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258622"/>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4E754D9-C290-04B0-61DA-F3A3A2B5B38B}"/>
              </a:ext>
            </a:extLst>
          </p:cNvPr>
          <p:cNvPicPr>
            <a:picLocks noChangeAspect="1"/>
          </p:cNvPicPr>
          <p:nvPr/>
        </p:nvPicPr>
        <p:blipFill>
          <a:blip r:embed="rId3"/>
          <a:srcRect r="16582"/>
          <a:stretch>
            <a:fillRect/>
          </a:stretch>
        </p:blipFill>
        <p:spPr>
          <a:xfrm>
            <a:off x="1492127" y="1207875"/>
            <a:ext cx="8920064" cy="536056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CC615D8-F44E-D5C7-F037-9E0E2B949225}"/>
              </a:ext>
            </a:extLst>
          </p:cNvPr>
          <p:cNvPicPr>
            <a:picLocks noChangeAspect="1"/>
          </p:cNvPicPr>
          <p:nvPr/>
        </p:nvPicPr>
        <p:blipFill>
          <a:blip r:embed="rId3"/>
          <a:stretch>
            <a:fillRect/>
          </a:stretch>
        </p:blipFill>
        <p:spPr>
          <a:xfrm>
            <a:off x="306639" y="1380931"/>
            <a:ext cx="5710835" cy="5187509"/>
          </a:xfrm>
          <a:prstGeom prst="rect">
            <a:avLst/>
          </a:prstGeom>
        </p:spPr>
      </p:pic>
      <p:pic>
        <p:nvPicPr>
          <p:cNvPr id="9" name="Picture 8">
            <a:extLst>
              <a:ext uri="{FF2B5EF4-FFF2-40B4-BE49-F238E27FC236}">
                <a16:creationId xmlns:a16="http://schemas.microsoft.com/office/drawing/2014/main" id="{70CF9D75-4AF4-BF21-DE1C-6775650CDEAB}"/>
              </a:ext>
            </a:extLst>
          </p:cNvPr>
          <p:cNvPicPr>
            <a:picLocks noChangeAspect="1"/>
          </p:cNvPicPr>
          <p:nvPr/>
        </p:nvPicPr>
        <p:blipFill>
          <a:blip r:embed="rId4"/>
          <a:stretch>
            <a:fillRect/>
          </a:stretch>
        </p:blipFill>
        <p:spPr>
          <a:xfrm>
            <a:off x="6321478" y="1380930"/>
            <a:ext cx="5645395" cy="518750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5AC25B8-DCCB-0391-BC1D-38548ECF1398}"/>
              </a:ext>
            </a:extLst>
          </p:cNvPr>
          <p:cNvPicPr>
            <a:picLocks noChangeAspect="1"/>
          </p:cNvPicPr>
          <p:nvPr/>
        </p:nvPicPr>
        <p:blipFill>
          <a:blip r:embed="rId3"/>
          <a:stretch>
            <a:fillRect/>
          </a:stretch>
        </p:blipFill>
        <p:spPr>
          <a:xfrm>
            <a:off x="320982" y="1408923"/>
            <a:ext cx="5650636" cy="5256038"/>
          </a:xfrm>
          <a:prstGeom prst="rect">
            <a:avLst/>
          </a:prstGeom>
        </p:spPr>
      </p:pic>
      <p:pic>
        <p:nvPicPr>
          <p:cNvPr id="11" name="Picture 10">
            <a:extLst>
              <a:ext uri="{FF2B5EF4-FFF2-40B4-BE49-F238E27FC236}">
                <a16:creationId xmlns:a16="http://schemas.microsoft.com/office/drawing/2014/main" id="{A9FA10DD-0404-0831-EFE0-FEE9CC593227}"/>
              </a:ext>
            </a:extLst>
          </p:cNvPr>
          <p:cNvPicPr>
            <a:picLocks noChangeAspect="1"/>
          </p:cNvPicPr>
          <p:nvPr/>
        </p:nvPicPr>
        <p:blipFill>
          <a:blip r:embed="rId4"/>
          <a:stretch>
            <a:fillRect/>
          </a:stretch>
        </p:blipFill>
        <p:spPr>
          <a:xfrm>
            <a:off x="6220384" y="1408923"/>
            <a:ext cx="5721723" cy="525603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01940"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3DA99EF-0F88-CE44-BC1E-C0975EE04B37}"/>
              </a:ext>
            </a:extLst>
          </p:cNvPr>
          <p:cNvPicPr>
            <a:picLocks noChangeAspect="1"/>
          </p:cNvPicPr>
          <p:nvPr/>
        </p:nvPicPr>
        <p:blipFill>
          <a:blip r:embed="rId3"/>
          <a:stretch>
            <a:fillRect/>
          </a:stretch>
        </p:blipFill>
        <p:spPr>
          <a:xfrm>
            <a:off x="320982" y="1168433"/>
            <a:ext cx="5553044" cy="5506944"/>
          </a:xfrm>
          <a:prstGeom prst="rect">
            <a:avLst/>
          </a:prstGeom>
        </p:spPr>
      </p:pic>
      <p:pic>
        <p:nvPicPr>
          <p:cNvPr id="9" name="Picture 8">
            <a:extLst>
              <a:ext uri="{FF2B5EF4-FFF2-40B4-BE49-F238E27FC236}">
                <a16:creationId xmlns:a16="http://schemas.microsoft.com/office/drawing/2014/main" id="{74B11C55-C82C-D4B3-BB9A-1BFED35D6599}"/>
              </a:ext>
            </a:extLst>
          </p:cNvPr>
          <p:cNvPicPr>
            <a:picLocks noChangeAspect="1"/>
          </p:cNvPicPr>
          <p:nvPr/>
        </p:nvPicPr>
        <p:blipFill>
          <a:blip r:embed="rId4"/>
          <a:stretch>
            <a:fillRect/>
          </a:stretch>
        </p:blipFill>
        <p:spPr>
          <a:xfrm>
            <a:off x="6096000" y="1178851"/>
            <a:ext cx="5870713" cy="5486109"/>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294294" y="193040"/>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B8782C2-6E1B-2E18-5DA9-DE3ADF5DBB1A}"/>
              </a:ext>
            </a:extLst>
          </p:cNvPr>
          <p:cNvPicPr>
            <a:picLocks noChangeAspect="1"/>
          </p:cNvPicPr>
          <p:nvPr/>
        </p:nvPicPr>
        <p:blipFill>
          <a:blip r:embed="rId3"/>
          <a:stretch>
            <a:fillRect/>
          </a:stretch>
        </p:blipFill>
        <p:spPr>
          <a:xfrm>
            <a:off x="218059" y="1143000"/>
            <a:ext cx="5665906" cy="5521960"/>
          </a:xfrm>
          <a:prstGeom prst="rect">
            <a:avLst/>
          </a:prstGeom>
        </p:spPr>
      </p:pic>
      <p:pic>
        <p:nvPicPr>
          <p:cNvPr id="9" name="Picture 8">
            <a:extLst>
              <a:ext uri="{FF2B5EF4-FFF2-40B4-BE49-F238E27FC236}">
                <a16:creationId xmlns:a16="http://schemas.microsoft.com/office/drawing/2014/main" id="{2B702C24-A827-7D2D-AC9C-42EBCBA9AFE3}"/>
              </a:ext>
            </a:extLst>
          </p:cNvPr>
          <p:cNvPicPr>
            <a:picLocks noChangeAspect="1"/>
          </p:cNvPicPr>
          <p:nvPr/>
        </p:nvPicPr>
        <p:blipFill>
          <a:blip r:embed="rId4"/>
          <a:stretch>
            <a:fillRect/>
          </a:stretch>
        </p:blipFill>
        <p:spPr>
          <a:xfrm>
            <a:off x="5993296" y="1143000"/>
            <a:ext cx="5980645" cy="552196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317A3-80EE-3AF1-BAB9-1BAC00817E5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640BF9F-C1B1-E2E4-2DD5-02EADF7FD6F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CC9226-59C8-A701-29BD-2FF9E1B254FC}"/>
              </a:ext>
            </a:extLst>
          </p:cNvPr>
          <p:cNvSpPr>
            <a:spLocks noGrp="1"/>
          </p:cNvSpPr>
          <p:nvPr>
            <p:ph type="title"/>
          </p:nvPr>
        </p:nvSpPr>
        <p:spPr>
          <a:xfrm>
            <a:off x="349052" y="193040"/>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0CD31A07-307D-6E3E-8ECB-1AE382E345C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40F9E4B-6A69-D98A-B19B-884957972A17}"/>
              </a:ext>
            </a:extLst>
          </p:cNvPr>
          <p:cNvPicPr>
            <a:picLocks noChangeAspect="1"/>
          </p:cNvPicPr>
          <p:nvPr/>
        </p:nvPicPr>
        <p:blipFill>
          <a:blip r:embed="rId3"/>
          <a:stretch>
            <a:fillRect/>
          </a:stretch>
        </p:blipFill>
        <p:spPr>
          <a:xfrm>
            <a:off x="190026" y="1152938"/>
            <a:ext cx="5753574" cy="5512021"/>
          </a:xfrm>
          <a:prstGeom prst="rect">
            <a:avLst/>
          </a:prstGeom>
        </p:spPr>
      </p:pic>
      <p:pic>
        <p:nvPicPr>
          <p:cNvPr id="7" name="Picture 6">
            <a:extLst>
              <a:ext uri="{FF2B5EF4-FFF2-40B4-BE49-F238E27FC236}">
                <a16:creationId xmlns:a16="http://schemas.microsoft.com/office/drawing/2014/main" id="{EACDD102-B756-1BC4-66FA-028B59136FC4}"/>
              </a:ext>
            </a:extLst>
          </p:cNvPr>
          <p:cNvPicPr>
            <a:picLocks noChangeAspect="1"/>
          </p:cNvPicPr>
          <p:nvPr/>
        </p:nvPicPr>
        <p:blipFill>
          <a:blip r:embed="rId4"/>
          <a:stretch>
            <a:fillRect/>
          </a:stretch>
        </p:blipFill>
        <p:spPr>
          <a:xfrm>
            <a:off x="6096000" y="1152938"/>
            <a:ext cx="5905974" cy="5512022"/>
          </a:xfrm>
          <a:prstGeom prst="rect">
            <a:avLst/>
          </a:prstGeom>
        </p:spPr>
      </p:pic>
    </p:spTree>
    <p:extLst>
      <p:ext uri="{BB962C8B-B14F-4D97-AF65-F5344CB8AC3E}">
        <p14:creationId xmlns:p14="http://schemas.microsoft.com/office/powerpoint/2010/main" val="215002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FEEDE-2746-3023-6645-B5DF2662C1E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D04BDD-BC6E-B553-1618-C95754E1E5B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4181024-B4F3-C5E1-7B91-09834E21619B}"/>
              </a:ext>
            </a:extLst>
          </p:cNvPr>
          <p:cNvSpPr>
            <a:spLocks noGrp="1"/>
          </p:cNvSpPr>
          <p:nvPr>
            <p:ph type="title"/>
          </p:nvPr>
        </p:nvSpPr>
        <p:spPr>
          <a:xfrm>
            <a:off x="391724" y="193040"/>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464E9C40-ED1C-E2C2-32BA-3367334395D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84A0B3E-1E9D-C502-5B23-022B23EE37F3}"/>
              </a:ext>
            </a:extLst>
          </p:cNvPr>
          <p:cNvPicPr>
            <a:picLocks noChangeAspect="1"/>
          </p:cNvPicPr>
          <p:nvPr/>
        </p:nvPicPr>
        <p:blipFill>
          <a:blip r:embed="rId3"/>
          <a:stretch>
            <a:fillRect/>
          </a:stretch>
        </p:blipFill>
        <p:spPr>
          <a:xfrm>
            <a:off x="130196" y="1162070"/>
            <a:ext cx="5887278" cy="5502890"/>
          </a:xfrm>
          <a:prstGeom prst="rect">
            <a:avLst/>
          </a:prstGeom>
        </p:spPr>
      </p:pic>
      <p:pic>
        <p:nvPicPr>
          <p:cNvPr id="7" name="Picture 6">
            <a:extLst>
              <a:ext uri="{FF2B5EF4-FFF2-40B4-BE49-F238E27FC236}">
                <a16:creationId xmlns:a16="http://schemas.microsoft.com/office/drawing/2014/main" id="{4E2476B7-70A8-4FDC-028E-040E7CA9A1B8}"/>
              </a:ext>
            </a:extLst>
          </p:cNvPr>
          <p:cNvPicPr>
            <a:picLocks noChangeAspect="1"/>
          </p:cNvPicPr>
          <p:nvPr/>
        </p:nvPicPr>
        <p:blipFill>
          <a:blip r:embed="rId4"/>
          <a:stretch>
            <a:fillRect/>
          </a:stretch>
        </p:blipFill>
        <p:spPr>
          <a:xfrm>
            <a:off x="6187778" y="1162071"/>
            <a:ext cx="5874026" cy="5502889"/>
          </a:xfrm>
          <a:prstGeom prst="rect">
            <a:avLst/>
          </a:prstGeom>
        </p:spPr>
      </p:pic>
    </p:spTree>
    <p:extLst>
      <p:ext uri="{BB962C8B-B14F-4D97-AF65-F5344CB8AC3E}">
        <p14:creationId xmlns:p14="http://schemas.microsoft.com/office/powerpoint/2010/main" val="427205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31936-E680-784D-D181-200E6EAA603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561359-B105-BC45-395F-2C7A28BAA7B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94C47E1-58B9-EED4-F613-51EBF2827B9B}"/>
              </a:ext>
            </a:extLst>
          </p:cNvPr>
          <p:cNvSpPr>
            <a:spLocks noGrp="1"/>
          </p:cNvSpPr>
          <p:nvPr>
            <p:ph type="title"/>
          </p:nvPr>
        </p:nvSpPr>
        <p:spPr>
          <a:xfrm>
            <a:off x="475856" y="193040"/>
            <a:ext cx="2981643" cy="830997"/>
          </a:xfrm>
        </p:spPr>
        <p:txBody>
          <a:bodyPr>
            <a:normAutofit/>
          </a:bodyPr>
          <a:lstStyle/>
          <a:p>
            <a:r>
              <a:rPr lang="en-GB" dirty="0"/>
              <a:t>RESULTS </a:t>
            </a:r>
            <a:endParaRPr lang="en-IN" dirty="0"/>
          </a:p>
        </p:txBody>
      </p:sp>
      <p:sp>
        <p:nvSpPr>
          <p:cNvPr id="8" name="Text Placeholder 30">
            <a:extLst>
              <a:ext uri="{FF2B5EF4-FFF2-40B4-BE49-F238E27FC236}">
                <a16:creationId xmlns:a16="http://schemas.microsoft.com/office/drawing/2014/main" id="{1B63326A-10DE-AC4C-5C58-AF161DADD3E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BBFA839-617B-20B5-9232-7DF0CD2D8743}"/>
              </a:ext>
            </a:extLst>
          </p:cNvPr>
          <p:cNvPicPr>
            <a:picLocks noChangeAspect="1"/>
          </p:cNvPicPr>
          <p:nvPr/>
        </p:nvPicPr>
        <p:blipFill>
          <a:blip r:embed="rId3"/>
          <a:stretch>
            <a:fillRect/>
          </a:stretch>
        </p:blipFill>
        <p:spPr>
          <a:xfrm>
            <a:off x="228600" y="1175164"/>
            <a:ext cx="5655365" cy="5489796"/>
          </a:xfrm>
          <a:prstGeom prst="rect">
            <a:avLst/>
          </a:prstGeom>
        </p:spPr>
      </p:pic>
      <p:pic>
        <p:nvPicPr>
          <p:cNvPr id="7" name="Picture 6">
            <a:extLst>
              <a:ext uri="{FF2B5EF4-FFF2-40B4-BE49-F238E27FC236}">
                <a16:creationId xmlns:a16="http://schemas.microsoft.com/office/drawing/2014/main" id="{7D0790E9-F693-A07D-C485-F09B53ED359E}"/>
              </a:ext>
            </a:extLst>
          </p:cNvPr>
          <p:cNvPicPr>
            <a:picLocks noChangeAspect="1"/>
          </p:cNvPicPr>
          <p:nvPr/>
        </p:nvPicPr>
        <p:blipFill>
          <a:blip r:embed="rId4"/>
          <a:stretch>
            <a:fillRect/>
          </a:stretch>
        </p:blipFill>
        <p:spPr>
          <a:xfrm>
            <a:off x="6023114" y="1175165"/>
            <a:ext cx="5940286" cy="5489796"/>
          </a:xfrm>
          <a:prstGeom prst="rect">
            <a:avLst/>
          </a:prstGeom>
        </p:spPr>
      </p:pic>
    </p:spTree>
    <p:extLst>
      <p:ext uri="{BB962C8B-B14F-4D97-AF65-F5344CB8AC3E}">
        <p14:creationId xmlns:p14="http://schemas.microsoft.com/office/powerpoint/2010/main" val="328281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556687" y="31403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43468983-1C1D-DFDD-6860-60BBEF1177DF}"/>
              </a:ext>
            </a:extLst>
          </p:cNvPr>
          <p:cNvSpPr txBox="1"/>
          <p:nvPr/>
        </p:nvSpPr>
        <p:spPr>
          <a:xfrm>
            <a:off x="556687" y="1363851"/>
            <a:ext cx="9640861" cy="5028556"/>
          </a:xfrm>
          <a:prstGeom prst="rect">
            <a:avLst/>
          </a:prstGeom>
          <a:noFill/>
        </p:spPr>
        <p:txBody>
          <a:bodyPr wrap="square">
            <a:spAutoFit/>
          </a:bodyPr>
          <a:lstStyle/>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Machine Learning:</a:t>
            </a:r>
            <a:r>
              <a:rPr lang="en-IN" dirty="0">
                <a:latin typeface="Times New Roman" panose="02020603050405020304" pitchFamily="18" charset="0"/>
                <a:cs typeface="Times New Roman" panose="02020603050405020304" pitchFamily="18" charset="0"/>
              </a:rPr>
              <a:t> Develop models to predict crop yield and profit.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Feature Engineering:</a:t>
            </a:r>
            <a:r>
              <a:rPr lang="en-IN" dirty="0">
                <a:latin typeface="Times New Roman" panose="02020603050405020304" pitchFamily="18" charset="0"/>
                <a:cs typeface="Times New Roman" panose="02020603050405020304" pitchFamily="18" charset="0"/>
              </a:rPr>
              <a:t> Create additional features to improve analytical insights.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Interactive Dashboard:</a:t>
            </a:r>
            <a:r>
              <a:rPr lang="en-IN" dirty="0">
                <a:latin typeface="Times New Roman" panose="02020603050405020304" pitchFamily="18" charset="0"/>
                <a:cs typeface="Times New Roman" panose="02020603050405020304" pitchFamily="18" charset="0"/>
              </a:rPr>
              <a:t> Build dashboards for seasonal, crop, resource, economic, and geographical analysis.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Predictive Agricultural Planning:</a:t>
            </a:r>
            <a:r>
              <a:rPr lang="en-IN" dirty="0">
                <a:latin typeface="Times New Roman" panose="02020603050405020304" pitchFamily="18" charset="0"/>
                <a:cs typeface="Times New Roman" panose="02020603050405020304" pitchFamily="18" charset="0"/>
              </a:rPr>
              <a:t> Use historical data to support future crop and seasonal planning.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Advanced Analysis:</a:t>
            </a:r>
            <a:r>
              <a:rPr lang="en-IN" dirty="0">
                <a:latin typeface="Times New Roman" panose="02020603050405020304" pitchFamily="18" charset="0"/>
                <a:cs typeface="Times New Roman" panose="02020603050405020304" pitchFamily="18" charset="0"/>
              </a:rPr>
              <a:t> Apply more advanced statistical and predictive techniques to identify deeper patterns.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Real-Time Data Integration:</a:t>
            </a:r>
            <a:r>
              <a:rPr lang="en-IN" dirty="0">
                <a:latin typeface="Times New Roman" panose="02020603050405020304" pitchFamily="18" charset="0"/>
                <a:cs typeface="Times New Roman" panose="02020603050405020304" pitchFamily="18" charset="0"/>
              </a:rPr>
              <a:t> Incorporate weather, market, and farming data for more dynamic analysis. </a:t>
            </a:r>
          </a:p>
          <a:p>
            <a:pPr marL="342900" lvl="0" indent="-342900">
              <a:lnSpc>
                <a:spcPct val="150000"/>
              </a:lnSpc>
              <a:buClr>
                <a:schemeClr val="accent4"/>
              </a:buClr>
              <a:buFont typeface="Wingdings" panose="05000000000000000000" pitchFamily="2" charset="2"/>
              <a:buChar char="§"/>
            </a:pPr>
            <a:r>
              <a:rPr lang="en-IN" b="1" dirty="0">
                <a:latin typeface="Times New Roman" panose="02020603050405020304" pitchFamily="18" charset="0"/>
                <a:cs typeface="Times New Roman" panose="02020603050405020304" pitchFamily="18" charset="0"/>
              </a:rPr>
              <a:t>Decision Support System:</a:t>
            </a:r>
            <a:r>
              <a:rPr lang="en-IN" dirty="0">
                <a:latin typeface="Times New Roman" panose="02020603050405020304" pitchFamily="18" charset="0"/>
                <a:cs typeface="Times New Roman" panose="02020603050405020304" pitchFamily="18" charset="0"/>
              </a:rPr>
              <a:t> Develop a data-driven system to assist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53523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675957" y="2683813"/>
            <a:ext cx="8842896" cy="115293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dirty="0">
                <a:solidFill>
                  <a:srgbClr val="00B050"/>
                </a:solidFill>
                <a:hlinkClick r:id="rId3">
                  <a:extLst>
                    <a:ext uri="{A12FA001-AC4F-418D-AE19-62706E023703}">
                      <ahyp:hlinkClr xmlns:ahyp="http://schemas.microsoft.com/office/drawing/2018/hyperlinkcolor" val="tx"/>
                    </a:ext>
                  </a:extLst>
                </a:hlinkClick>
              </a:rPr>
              <a:t>https://github.com/Shoaib05504/Seasonal-Agriculture-Performance-Analysis</a:t>
            </a:r>
            <a:endParaRPr lang="en-GB" sz="2000" dirty="0">
              <a:solidFill>
                <a:srgbClr val="00B050"/>
              </a:solidFill>
            </a:endParaRP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320982" y="23740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1F151A4-89D3-7CEC-2005-9277D6ECAB41}"/>
              </a:ext>
            </a:extLst>
          </p:cNvPr>
          <p:cNvPicPr>
            <a:picLocks noChangeAspect="1"/>
          </p:cNvPicPr>
          <p:nvPr/>
        </p:nvPicPr>
        <p:blipFill>
          <a:blip r:embed="rId3"/>
          <a:stretch>
            <a:fillRect/>
          </a:stretch>
        </p:blipFill>
        <p:spPr>
          <a:xfrm>
            <a:off x="1731941" y="1461052"/>
            <a:ext cx="8351388" cy="501086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89655" y="1874587"/>
            <a:ext cx="11097391" cy="1431651"/>
          </a:xfrm>
          <a:prstGeom prst="rect">
            <a:avLst/>
          </a:prstGeom>
        </p:spPr>
        <p:txBody>
          <a:bodyPr anchor="ctr">
            <a:noAutofit/>
          </a:bodyPr>
          <a:lstStyle/>
          <a:p>
            <a:pPr algn="ctr"/>
            <a:r>
              <a:rPr lang="en-US" sz="7200" b="1" dirty="0">
                <a:solidFill>
                  <a:srgbClr val="FFC000"/>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2807480" y="4373953"/>
            <a:ext cx="5783883" cy="656333"/>
          </a:xfrm>
        </p:spPr>
        <p:txBody>
          <a:bodyPr>
            <a:normAutofit/>
          </a:bodyPr>
          <a:lstStyle/>
          <a:p>
            <a:r>
              <a:rPr lang="en-US" sz="2000" b="1" dirty="0">
                <a:solidFill>
                  <a:srgbClr val="7030A0"/>
                </a:solidFill>
                <a:hlinkClick r:id="rId2">
                  <a:extLst>
                    <a:ext uri="{A12FA001-AC4F-418D-AE19-62706E023703}">
                      <ahyp:hlinkClr xmlns:ahyp="http://schemas.microsoft.com/office/drawing/2018/hyperlinkcolor" val="tx"/>
                    </a:ext>
                  </a:extLst>
                </a:hlinkClick>
              </a:rPr>
              <a:t>GitHub Repository</a:t>
            </a:r>
            <a:endParaRPr lang="en-US" sz="2000" b="1" dirty="0">
              <a:solidFill>
                <a:srgbClr val="7030A0"/>
              </a:solidFill>
            </a:endParaRP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031543" y="3194118"/>
            <a:ext cx="5413614" cy="768453"/>
          </a:xfrm>
        </p:spPr>
        <p:txBody>
          <a:bodyPr>
            <a:noAutofit/>
          </a:bodyPr>
          <a:lstStyle/>
          <a:p>
            <a:r>
              <a:rPr lang="en-US" sz="2400" dirty="0">
                <a:solidFill>
                  <a:srgbClr val="00B050"/>
                </a:solidFill>
                <a:latin typeface="Times New Roman" panose="02020603050405020304" pitchFamily="18" charset="0"/>
                <a:cs typeface="Times New Roman" panose="02020603050405020304" pitchFamily="18" charset="0"/>
              </a:rPr>
              <a:t>Seasonal Agriculture Performance Analysis</a:t>
            </a:r>
            <a:endParaRPr lang="en-IN" sz="2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1528</TotalTime>
  <Words>540</Words>
  <Application>Microsoft Office PowerPoint</Application>
  <PresentationFormat>Widescreen</PresentationFormat>
  <Paragraphs>62</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Times New Roman</vt:lpstr>
      <vt:lpstr>Trebuchet MS</vt:lpstr>
      <vt:lpstr>Wingdings</vt:lpstr>
      <vt:lpstr>Wingdings 3</vt:lpstr>
      <vt:lpstr>Facet</vt:lpstr>
      <vt:lpstr>Project Title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Shoaib S W</cp:lastModifiedBy>
  <cp:revision>103</cp:revision>
  <dcterms:created xsi:type="dcterms:W3CDTF">2021-07-11T13:13:15Z</dcterms:created>
  <dcterms:modified xsi:type="dcterms:W3CDTF">2026-09-14T11:08:07Z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